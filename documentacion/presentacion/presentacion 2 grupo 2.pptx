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39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7607808" y="0"/>
            <a:ext cx="4572000" cy="6858000"/>
          </a:xfrm>
          <a:prstGeom prst="rect">
            <a:avLst/>
          </a:prstGeom>
          <a:solidFill>
            <a:srgbClr val="153A53"/>
          </a:solidFill>
          <a:ln w="6350">
            <a:solidFill>
              <a:srgbClr val="153A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0" y="1371600"/>
            <a:ext cx="3246120" cy="3246120"/>
          </a:xfrm>
          <a:prstGeom prst="ellipse">
            <a:avLst/>
          </a:prstGeom>
          <a:solidFill>
            <a:srgbClr val="3D8395">
              <a:alpha val="65000"/>
            </a:srgbClr>
          </a:solidFill>
          <a:ln w="38100">
            <a:solidFill>
              <a:srgbClr val="6BD1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 rot="10800000">
            <a:off x="8759952" y="1993392"/>
            <a:ext cx="2194560" cy="2194560"/>
          </a:xfrm>
          <a:prstGeom prst="arc">
            <a:avLst/>
          </a:prstGeom>
          <a:solidFill>
            <a:srgbClr val="B8EDF0">
              <a:alpha val="10000"/>
            </a:srgbClr>
          </a:solidFill>
          <a:ln w="63500">
            <a:solidFill>
              <a:srgbClr val="B8ED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8321040" y="4407408"/>
            <a:ext cx="3072384" cy="512064"/>
          </a:xfrm>
          <a:prstGeom prst="rect">
            <a:avLst/>
          </a:prstGeom>
          <a:solidFill>
            <a:srgbClr val="C8DFE5"/>
          </a:solidFill>
          <a:ln w="6350">
            <a:solidFill>
              <a:srgbClr val="C8DF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531352" y="4928616"/>
            <a:ext cx="2697480" cy="384048"/>
          </a:xfrm>
          <a:prstGeom prst="rect">
            <a:avLst/>
          </a:prstGeom>
          <a:solidFill>
            <a:srgbClr val="6694A3"/>
          </a:solidFill>
          <a:ln w="6350">
            <a:solidFill>
              <a:srgbClr val="6694A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85800" y="594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7DD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DE DISEÑO EN INGENIERÍA · UAI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 de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fugas de gas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704088" y="38862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7DD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4892040"/>
            <a:ext cx="5029200" cy="27432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04088" y="521208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</a:rPr>
              <a:t>Guillermo Cid, Jorge Molina, Matias Ortega y </a:t>
            </a:r>
            <a:r>
              <a:rPr lang="en-US" sz="1700">
                <a:solidFill>
                  <a:srgbClr val="FFFFFF"/>
                </a:solidFill>
                <a:latin typeface="Aptos" pitchFamily="34" charset="0"/>
              </a:rPr>
              <a:t>Antonia 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</a:rPr>
              <a:t>R</a:t>
            </a:r>
            <a:r>
              <a:rPr lang="en-US" sz="1700">
                <a:solidFill>
                  <a:srgbClr val="FFFFFF"/>
                </a:solidFill>
                <a:latin typeface="Aptos" pitchFamily="34" charset="0"/>
              </a:rPr>
              <a:t>ojas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" y="6336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y nuestra propuesta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D8E3E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137392" y="64922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212080" cy="3346704"/>
          </a:xfrm>
          <a:prstGeom prst="roundRect">
            <a:avLst>
              <a:gd name="adj" fmla="val 3279"/>
            </a:avLst>
          </a:prstGeom>
          <a:solidFill>
            <a:srgbClr val="F4F7F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679192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fuga de gas puede pasar inadvertida y generar una situación de riesgo.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212080" cy="3346704"/>
          </a:xfrm>
          <a:prstGeom prst="roundRect">
            <a:avLst>
              <a:gd name="adj" fmla="val 3279"/>
            </a:avLst>
          </a:prstGeom>
          <a:solidFill>
            <a:srgbClr val="EAF5F6"/>
          </a:solidFill>
          <a:ln w="6350">
            <a:solidFill>
              <a:srgbClr val="EAF5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PROPUESTA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679192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detector que capta una condición de riesgo y activa una alerta luminosa.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43400" y="5532120"/>
            <a:ext cx="3611880" cy="329184"/>
          </a:xfrm>
          <a:prstGeom prst="roundRect">
            <a:avLst>
              <a:gd name="adj" fmla="val 25000"/>
            </a:avLst>
          </a:prstGeom>
          <a:solidFill>
            <a:srgbClr val="EAF5F6"/>
          </a:solidFill>
          <a:ln w="6350">
            <a:solidFill>
              <a:srgbClr val="EAF5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434840" y="55778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E6A7E1A-B1FF-CDEC-7981-069E36A0FFB9}"/>
              </a:ext>
            </a:extLst>
          </p:cNvPr>
          <p:cNvSpPr txBox="1"/>
          <p:nvPr/>
        </p:nvSpPr>
        <p:spPr>
          <a:xfrm>
            <a:off x="960120" y="5431646"/>
            <a:ext cx="300591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kern="0" spc="160" dirty="0">
                <a:solidFill>
                  <a:srgbClr val="147D98"/>
                </a:solidFill>
                <a:latin typeface="Aptos" pitchFamily="34" charset="0"/>
              </a:rPr>
              <a:t>Las ODS</a:t>
            </a:r>
            <a:endParaRPr lang="es-CL" sz="13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887CEDD-0F6D-D063-595E-B8497A61DBFB}"/>
              </a:ext>
            </a:extLst>
          </p:cNvPr>
          <p:cNvSpPr txBox="1"/>
          <p:nvPr/>
        </p:nvSpPr>
        <p:spPr>
          <a:xfrm>
            <a:off x="960119" y="5737655"/>
            <a:ext cx="10080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respect a las ODS, el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enfoca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aportar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la ODS 3 y 11. Con respecto a las ODS, se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aportar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la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salud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bienestar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evitando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accidentes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relacionados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fugas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gas</a:t>
            </a:r>
            <a:endParaRPr lang="en-US" dirty="0"/>
          </a:p>
          <a:p>
            <a:endParaRPr lang="es-CL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11CB58B-82E7-E706-0A73-8C5F377D4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411" y="122995"/>
            <a:ext cx="1211675" cy="121167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A1B0506-25EB-4064-2D65-25B343C10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7945" y="117143"/>
            <a:ext cx="1211675" cy="1211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funciona el prototipo?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D8E3E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137392" y="64922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172968" cy="1965960"/>
          </a:xfrm>
          <a:prstGeom prst="roundRect">
            <a:avLst>
              <a:gd name="adj" fmla="val 5581"/>
            </a:avLst>
          </a:prstGeom>
          <a:solidFill>
            <a:srgbClr val="F4F7F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50392" y="2505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990088"/>
            <a:ext cx="27797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condiciones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relacionadas con gas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07992" y="2258568"/>
            <a:ext cx="3172968" cy="1965960"/>
          </a:xfrm>
          <a:prstGeom prst="roundRect">
            <a:avLst>
              <a:gd name="adj" fmla="val 5581"/>
            </a:avLst>
          </a:prstGeom>
          <a:solidFill>
            <a:srgbClr val="EAF5F6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718304" y="2505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990088"/>
            <a:ext cx="27797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la lectura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aplica la lógica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75904" y="2258568"/>
            <a:ext cx="3172968" cy="1965960"/>
          </a:xfrm>
          <a:prstGeom prst="roundRect">
            <a:avLst>
              <a:gd name="adj" fmla="val 5581"/>
            </a:avLst>
          </a:prstGeom>
          <a:solidFill>
            <a:srgbClr val="F4F7F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586216" y="2505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77072" y="2990088"/>
            <a:ext cx="27797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la señal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luminosa LED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58768" y="3236976"/>
            <a:ext cx="493776" cy="0"/>
          </a:xfrm>
          <a:prstGeom prst="line">
            <a:avLst/>
          </a:prstGeom>
          <a:noFill/>
          <a:ln w="5080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726680" y="3236976"/>
            <a:ext cx="493776" cy="0"/>
          </a:xfrm>
          <a:prstGeom prst="line">
            <a:avLst/>
          </a:prstGeom>
          <a:noFill/>
          <a:ln w="5080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024128" y="4791456"/>
            <a:ext cx="10387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5404104"/>
            <a:ext cx="10296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Encapsulado diseñado en Fusion 360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D8E3E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8503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37392" y="64922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3502152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IMAGEN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38130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del detector completo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cúpula centrada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84848" y="1719072"/>
            <a:ext cx="4608576" cy="402336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086600" y="20116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DEL MODELO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679192"/>
            <a:ext cx="77724" cy="77724"/>
          </a:xfrm>
          <a:prstGeom prst="ellipse">
            <a:avLst/>
          </a:prstGeom>
          <a:solidFill>
            <a:srgbClr val="21A2A8"/>
          </a:solidFill>
          <a:ln w="1270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287768" y="260604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Carcasa rectangular y desmontable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86600" y="3310128"/>
            <a:ext cx="77724" cy="77724"/>
          </a:xfrm>
          <a:prstGeom prst="ellipse">
            <a:avLst/>
          </a:prstGeom>
          <a:solidFill>
            <a:srgbClr val="21A2A8"/>
          </a:solidFill>
          <a:ln w="1270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287768" y="3236976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× 108 × 40 mm (caja)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86600" y="3941064"/>
            <a:ext cx="77724" cy="77724"/>
          </a:xfrm>
          <a:prstGeom prst="ellipse">
            <a:avLst/>
          </a:prstGeom>
          <a:solidFill>
            <a:srgbClr val="21A2A8"/>
          </a:solidFill>
          <a:ln w="1270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287768" y="3867912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soportes cilíndricos interiores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86600" y="4572000"/>
            <a:ext cx="77724" cy="77724"/>
          </a:xfrm>
          <a:prstGeom prst="ellipse">
            <a:avLst/>
          </a:prstGeom>
          <a:solidFill>
            <a:srgbClr val="21A2A8"/>
          </a:solidFill>
          <a:ln w="1270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287768" y="4498848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Tapa con abertura central Ø 60 mm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6640" y="5248656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EAF5F6"/>
          </a:solidFill>
          <a:ln w="6350">
            <a:solidFill>
              <a:srgbClr val="EAF5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1EB48B3-4CC4-897C-75C1-0CFA1A5DB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1772617"/>
            <a:ext cx="4810796" cy="3829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VENTILACIÓN · CABLEADO · MANTENIMIENTO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de diseño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D8E3E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137392" y="64922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46504"/>
            <a:ext cx="1083564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58368" y="1746504"/>
            <a:ext cx="109728" cy="105156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VENTILACIÓN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81528" y="1865376"/>
            <a:ext cx="8019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ranuras permiten el acceso del aire al interior, </a:t>
            </a:r>
            <a:r>
              <a:rPr lang="en-US" sz="17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ventilando</a:t>
            </a:r>
            <a:r>
              <a:rPr lang="en-US" sz="17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sensor y </a:t>
            </a:r>
            <a:r>
              <a:rPr lang="en-US" sz="17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permitiendo</a:t>
            </a:r>
            <a:r>
              <a:rPr lang="en-US" sz="17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entrada del gas.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2999232"/>
            <a:ext cx="10835640" cy="1051560"/>
          </a:xfrm>
          <a:prstGeom prst="roundRect">
            <a:avLst>
              <a:gd name="adj" fmla="val 8696"/>
            </a:avLst>
          </a:prstGeom>
          <a:solidFill>
            <a:srgbClr val="EAF5F6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58368" y="2999232"/>
            <a:ext cx="109728" cy="105156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60120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81528" y="3118104"/>
            <a:ext cx="8019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abertura lateral permite el paso y organización de los cables.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081528" y="4370832"/>
            <a:ext cx="8019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50015BC-CF6F-6D6A-F107-B008CA8B73B7}"/>
              </a:ext>
            </a:extLst>
          </p:cNvPr>
          <p:cNvSpPr txBox="1"/>
          <p:nvPr/>
        </p:nvSpPr>
        <p:spPr>
          <a:xfrm>
            <a:off x="768096" y="4517409"/>
            <a:ext cx="1374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00CE5F37-67D7-C124-5C4D-A19D5CCA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06" y="4529302"/>
            <a:ext cx="2223045" cy="222304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43922AC-8073-9E6C-70A7-4FF1A12F1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949" y="4566970"/>
            <a:ext cx="1989278" cy="198927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FE58E61-CEFC-5B9D-7E47-A6AEB0E5B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44" y="4623236"/>
            <a:ext cx="2223046" cy="167146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C878A6-4C0B-1D1F-647B-19894A7190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990" y="4169664"/>
            <a:ext cx="1876348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Pruebas, mejoras y próximos pasos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D8E3E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137392" y="64922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23911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Recibir</a:t>
            </a:r>
            <a:r>
              <a:rPr lang="en-US" sz="1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</a:t>
            </a:r>
            <a:r>
              <a:rPr lang="en-US" sz="1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SMS del detector </a:t>
            </a:r>
            <a:r>
              <a:rPr lang="en-US" sz="1900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fugas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3040653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Agregaremos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SIM para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 detector gas se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Esto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fomenta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57416" y="3040653"/>
            <a:ext cx="4261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funcionara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mediante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bateria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no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tener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estar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conectada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177042E-2FD6-CDDD-C246-EE6AA51ADF36}"/>
              </a:ext>
            </a:extLst>
          </p:cNvPr>
          <p:cNvSpPr txBox="1"/>
          <p:nvPr/>
        </p:nvSpPr>
        <p:spPr>
          <a:xfrm>
            <a:off x="6757416" y="2426056"/>
            <a:ext cx="426110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Funcionamiento</a:t>
            </a:r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bateria</a:t>
            </a:r>
            <a:endParaRPr lang="en-US" dirty="0"/>
          </a:p>
          <a:p>
            <a:endParaRPr lang="es-CL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DAA9758-A8E6-1187-B731-64D2C0801311}"/>
              </a:ext>
            </a:extLst>
          </p:cNvPr>
          <p:cNvSpPr txBox="1"/>
          <p:nvPr/>
        </p:nvSpPr>
        <p:spPr>
          <a:xfrm>
            <a:off x="932688" y="4517409"/>
            <a:ext cx="435254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Sonido de </a:t>
            </a:r>
            <a:r>
              <a:rPr lang="en-US" b="1" dirty="0" err="1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dirty="0"/>
          </a:p>
          <a:p>
            <a:endParaRPr lang="es-CL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63EBC7-FB51-0769-599B-E94BB80EE6D3}"/>
              </a:ext>
            </a:extLst>
          </p:cNvPr>
          <p:cNvSpPr txBox="1"/>
          <p:nvPr/>
        </p:nvSpPr>
        <p:spPr>
          <a:xfrm>
            <a:off x="978408" y="5298533"/>
            <a:ext cx="4526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Utilizaremos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buzzer para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emita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sonido</a:t>
            </a:r>
            <a:r>
              <a:rPr lang="en-US" sz="1600" dirty="0">
                <a:solidFill>
                  <a:srgbClr val="1D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 detector gas</a:t>
            </a:r>
            <a:endParaRPr lang="en-US" sz="1600" dirty="0"/>
          </a:p>
          <a:p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2A8"/>
          </a:solidFill>
          <a:ln w="6350">
            <a:solidFill>
              <a:srgbClr val="21A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 en vivo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D8E3EA"/>
          </a:solidFill>
          <a:ln w="63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137392" y="64922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5256" y="3346704"/>
            <a:ext cx="4617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0976" y="36576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547725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907FBE09-8149-2251-6FAC-D3F53D6B4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963" r="12716"/>
          <a:stretch>
            <a:fillRect/>
          </a:stretch>
        </p:blipFill>
        <p:spPr>
          <a:xfrm>
            <a:off x="3486226" y="1735380"/>
            <a:ext cx="4311243" cy="494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293</Words>
  <Application>Microsoft Office PowerPoint</Application>
  <PresentationFormat>Panorámica</PresentationFormat>
  <Paragraphs>59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Detector de fugas de gas — Avance 2</dc:title>
  <dc:subject>Avance 2 TEI201 - Detector de fugas de gas</dc:subject>
  <dc:creator>OpenAI</dc:creator>
  <cp:lastModifiedBy>Matías Joaquín Ortega Muñoz</cp:lastModifiedBy>
  <cp:revision>3</cp:revision>
  <dcterms:created xsi:type="dcterms:W3CDTF">2026-10-19T14:38:47Z</dcterms:created>
  <dcterms:modified xsi:type="dcterms:W3CDTF">2026-10-19T15:15:31Z</dcterms:modified>
</cp:coreProperties>
</file>