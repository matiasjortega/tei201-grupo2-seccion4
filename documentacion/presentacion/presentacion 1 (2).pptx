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21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1334AB-0A32-4B17-AE7E-F1D381A721A5}" type="datetimeFigureOut">
              <a:rPr lang="es-CL" smtClean="0"/>
              <a:t>23-08-2026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BA23E6-7CD3-4775-8827-013F3785948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8449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A23E6-7CD3-4775-8827-013F3785948D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013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15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732520" y="1325880"/>
            <a:ext cx="2834640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9514725" y="2651760"/>
            <a:ext cx="1288517" cy="123444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966960" y="2971800"/>
            <a:ext cx="384048" cy="384048"/>
          </a:xfrm>
          <a:prstGeom prst="ellipse">
            <a:avLst/>
          </a:prstGeom>
          <a:solidFill>
            <a:srgbClr val="E87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72600" y="352044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8702D"/>
                </a:solidFill>
                <a:latin typeface="Aptos"/>
              </a:rPr>
              <a:t>ALERTA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6675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52334"/>
                </a:solidFill>
                <a:latin typeface="Aptos"/>
              </a:rPr>
              <a:t>Detector de fugas
de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87168"/>
            <a:ext cx="6217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8702D"/>
                </a:solidFill>
                <a:latin typeface="Aptos"/>
              </a:rPr>
              <a:t>Avance #1 · Problemática y conceptualización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154680"/>
            <a:ext cx="6583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42E3A"/>
                </a:solidFill>
                <a:latin typeface="Aptos"/>
              </a:rPr>
              <a:t>¿Cómo detectar una fuga antes de que el riesgo dependa de que alguien la huela?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5074920"/>
            <a:ext cx="3474720" cy="347472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5093207"/>
            <a:ext cx="3328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4074A5"/>
                </a:solidFill>
                <a:latin typeface="Aptos"/>
              </a:rPr>
              <a:t>TEI201 · Taller de Diseño en Ingeniería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7380"/>
                </a:solidFill>
                <a:latin typeface="Aptos"/>
              </a:rPr>
              <a:t>24 de agosto de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315968"/>
            <a:ext cx="6629400" cy="1261872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9235440" y="1645920"/>
            <a:ext cx="1828800" cy="1234440"/>
          </a:xfrm>
          <a:prstGeom prst="triangle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4535424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8702D"/>
                </a:solidFill>
                <a:latin typeface="Aptos"/>
              </a:rPr>
              <a:t>INTEGRANTES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873752"/>
            <a:ext cx="5989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E3A"/>
                </a:solidFill>
                <a:latin typeface="Aptos"/>
              </a:rPr>
              <a:t>Matías Ortega · Coordinador
Antonia Rojas · Jorge Molina · Guillermo Cid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702D"/>
                </a:solidFill>
                <a:latin typeface="Aptos"/>
              </a:rPr>
              <a:t>01 · PROBLEMÁTICA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52334"/>
                </a:solidFill>
                <a:latin typeface="Aptos"/>
              </a:rPr>
              <a:t>El </a:t>
            </a:r>
            <a:r>
              <a:rPr sz="2800" b="1" dirty="0" err="1">
                <a:solidFill>
                  <a:srgbClr val="152334"/>
                </a:solidFill>
                <a:latin typeface="Aptos"/>
              </a:rPr>
              <a:t>problema</a:t>
            </a:r>
            <a:r>
              <a:rPr sz="2800" b="1" dirty="0">
                <a:solidFill>
                  <a:srgbClr val="152334"/>
                </a:solidFill>
                <a:latin typeface="Aptos"/>
              </a:rPr>
              <a:t> no es solo la </a:t>
            </a:r>
            <a:r>
              <a:rPr sz="2800" b="1" dirty="0" err="1">
                <a:solidFill>
                  <a:srgbClr val="152334"/>
                </a:solidFill>
                <a:latin typeface="Aptos"/>
              </a:rPr>
              <a:t>fuga</a:t>
            </a:r>
            <a:r>
              <a:rPr sz="2800" b="1" dirty="0">
                <a:solidFill>
                  <a:srgbClr val="152334"/>
                </a:solidFill>
                <a:latin typeface="Aptos"/>
              </a:rPr>
              <a:t>: es </a:t>
            </a:r>
            <a:r>
              <a:rPr sz="2800" b="1" dirty="0" err="1">
                <a:solidFill>
                  <a:srgbClr val="152334"/>
                </a:solidFill>
                <a:latin typeface="Aptos"/>
              </a:rPr>
              <a:t>detectarla</a:t>
            </a:r>
            <a:r>
              <a:rPr sz="2800" b="1" dirty="0">
                <a:solidFill>
                  <a:srgbClr val="152334"/>
                </a:solidFill>
                <a:latin typeface="Aptos"/>
              </a:rPr>
              <a:t> a </a:t>
            </a:r>
            <a:r>
              <a:rPr sz="2800" b="1" dirty="0" err="1">
                <a:solidFill>
                  <a:srgbClr val="152334"/>
                </a:solidFill>
                <a:latin typeface="Aptos"/>
              </a:rPr>
              <a:t>tiempo</a:t>
            </a:r>
            <a:endParaRPr sz="2800" b="1" dirty="0">
              <a:solidFill>
                <a:srgbClr val="15233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1051559"/>
            <a:ext cx="5084145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667380"/>
                </a:solidFill>
                <a:latin typeface="Aptos"/>
              </a:rPr>
              <a:t>Foco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: </a:t>
            </a:r>
            <a:r>
              <a:rPr sz="1300" b="0" dirty="0" err="1">
                <a:solidFill>
                  <a:srgbClr val="667380"/>
                </a:solidFill>
                <a:latin typeface="Aptos"/>
              </a:rPr>
              <a:t>hogares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 de Santiago </a:t>
            </a:r>
            <a:r>
              <a:rPr sz="1300" b="0" dirty="0" err="1">
                <a:solidFill>
                  <a:srgbClr val="667380"/>
                </a:solidFill>
                <a:latin typeface="Aptos"/>
              </a:rPr>
              <a:t>donde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 se </a:t>
            </a:r>
            <a:r>
              <a:rPr sz="1300" b="0" dirty="0" err="1">
                <a:solidFill>
                  <a:srgbClr val="667380"/>
                </a:solidFill>
                <a:latin typeface="Aptos"/>
              </a:rPr>
              <a:t>utilizan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7380"/>
                </a:solidFill>
                <a:latin typeface="Aptos"/>
              </a:rPr>
              <a:t>artefactos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 a gas.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4747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88761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E8702D"/>
                </a:solidFill>
                <a:latin typeface="Aptos"/>
              </a:rPr>
              <a:t>QUIÉN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39696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42E3A"/>
                </a:solidFill>
                <a:latin typeface="Aptos"/>
              </a:rPr>
              <a:t>Personas que viven en hogares con gas, especialmente quienes viven solos, están lejos de la fuente o tienen dificultad para percibir olores.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83080"/>
            <a:ext cx="34747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888761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E8702D"/>
                </a:solidFill>
                <a:latin typeface="Aptos"/>
              </a:rPr>
              <a:t>QUÉ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39696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42E3A"/>
                </a:solidFill>
                <a:latin typeface="Aptos"/>
              </a:rPr>
              <a:t>Una fuga puede no ser detectada oportunamente cuando la alerta depende principalmente de la percepción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783080"/>
            <a:ext cx="34747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888761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E8702D"/>
                </a:solidFill>
                <a:latin typeface="Aptos"/>
              </a:rPr>
              <a:t>DÓNDE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39696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42E3A"/>
                </a:solidFill>
                <a:latin typeface="Aptos"/>
              </a:rPr>
              <a:t>Dentro del hogar, especialmente en zonas donde funcionan cocina, calefón, estufa u otros artefactos a gas.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044952"/>
            <a:ext cx="34747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19" y="3157986"/>
            <a:ext cx="919255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E8702D"/>
                </a:solidFill>
                <a:latin typeface="Aptos"/>
              </a:rPr>
              <a:t>CUÁNDO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01568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42E3A"/>
                </a:solidFill>
                <a:latin typeface="Aptos"/>
              </a:rPr>
              <a:t>Cuando la persona está lejos de la fuente, en otra habitación o no percibe bien el olor.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6552" y="3063241"/>
            <a:ext cx="34747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3154460"/>
            <a:ext cx="10058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E8702D"/>
                </a:solidFill>
                <a:latin typeface="Aptos"/>
              </a:rPr>
              <a:t>POR QUÉ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401568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42E3A"/>
                </a:solidFill>
                <a:latin typeface="Aptos"/>
              </a:rPr>
              <a:t>La detección puede depender de que alguien esté presente, cerca de la fuente y pueda percibir la señal de olor.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044952"/>
            <a:ext cx="34747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315446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E8702D"/>
                </a:solidFill>
                <a:latin typeface="Aptos"/>
              </a:rPr>
              <a:t>CÓMO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401568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42E3A"/>
                </a:solidFill>
                <a:latin typeface="Aptos"/>
              </a:rPr>
              <a:t>La fuga puede permanecer sin una alerta visible → la persona puede reaccionar tarde ante una situación de riesgo.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462272"/>
            <a:ext cx="10972800" cy="1389888"/>
          </a:xfrm>
          <a:prstGeom prst="roundRect">
            <a:avLst/>
          </a:prstGeom>
          <a:solidFill>
            <a:srgbClr val="152334"/>
          </a:solidFill>
          <a:ln w="10160">
            <a:solidFill>
              <a:srgbClr val="152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466344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02D"/>
                </a:solidFill>
                <a:latin typeface="Aptos"/>
              </a:rPr>
              <a:t>¿POR QUÉ ES RELEVANTE PARA SANTIAGO?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966052"/>
            <a:ext cx="6400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dirty="0">
                <a:solidFill>
                  <a:srgbClr val="FFFFFF"/>
                </a:solidFill>
                <a:latin typeface="Aptos"/>
              </a:rPr>
              <a:t>La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Región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Metropolitana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concentra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 7,4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millones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 de personas.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Mejorar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 la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detección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temprana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 de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riesgos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dentro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 del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hogar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puede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beneficiar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 a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una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 gran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cantidad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 de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usuarios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 y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contribuir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 a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hogares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más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FFFFFF"/>
                </a:solidFill>
                <a:latin typeface="Aptos"/>
              </a:rPr>
              <a:t>seguros</a:t>
            </a:r>
            <a:r>
              <a:rPr sz="1220" b="0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91272" y="4736592"/>
            <a:ext cx="3063240" cy="347472"/>
          </a:xfrm>
          <a:prstGeom prst="roundRect">
            <a:avLst/>
          </a:prstGeom>
          <a:solidFill>
            <a:srgbClr val="E4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64424" y="4764024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328B66"/>
                </a:solidFill>
                <a:latin typeface="Aptos"/>
              </a:rPr>
              <a:t>ODS 3 · Salud y bienestar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91272" y="5193792"/>
            <a:ext cx="3063240" cy="347472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64424" y="5221224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074A5"/>
                </a:solidFill>
                <a:latin typeface="Aptos"/>
              </a:rPr>
              <a:t>ODS 11 · Comunidades sostenibles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380"/>
                </a:solidFill>
                <a:latin typeface="Aptos"/>
              </a:rPr>
              <a:t>Fuente: Censo 2024, INE. Encuesta propia como evidencia exploratoria.</a:t>
            </a:r>
          </a:p>
        </p:txBody>
      </p:sp>
      <p:sp>
        <p:nvSpPr>
          <p:cNvPr id="34" name="TextBox 3">
            <a:extLst>
              <a:ext uri="{FF2B5EF4-FFF2-40B4-BE49-F238E27FC236}">
                <a16:creationId xmlns:a16="http://schemas.microsoft.com/office/drawing/2014/main" id="{7FC4E22C-DAE5-E1E2-4D35-D4047126218E}"/>
              </a:ext>
            </a:extLst>
          </p:cNvPr>
          <p:cNvSpPr txBox="1"/>
          <p:nvPr/>
        </p:nvSpPr>
        <p:spPr>
          <a:xfrm>
            <a:off x="630936" y="1333331"/>
            <a:ext cx="5084145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L" sz="1300" b="0" dirty="0">
                <a:solidFill>
                  <a:srgbClr val="667380"/>
                </a:solidFill>
                <a:latin typeface="Aptos"/>
              </a:rPr>
              <a:t>6W</a:t>
            </a:r>
            <a:endParaRPr sz="1300" b="0" dirty="0">
              <a:solidFill>
                <a:srgbClr val="6673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702D"/>
                </a:solidFill>
                <a:latin typeface="Aptos"/>
              </a:rPr>
              <a:t>02 · INVESTIGACIÓN Y ANÁLISIS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52334"/>
                </a:solidFill>
                <a:latin typeface="Aptos"/>
              </a:rPr>
              <a:t>¿</a:t>
            </a:r>
            <a:r>
              <a:rPr sz="2800" b="1" dirty="0" err="1">
                <a:solidFill>
                  <a:srgbClr val="152334"/>
                </a:solidFill>
                <a:latin typeface="Aptos"/>
              </a:rPr>
              <a:t>Qué</a:t>
            </a:r>
            <a:r>
              <a:rPr sz="2800" b="1" dirty="0">
                <a:solidFill>
                  <a:srgbClr val="152334"/>
                </a:solidFill>
                <a:latin typeface="Aptos"/>
              </a:rPr>
              <a:t> </a:t>
            </a:r>
            <a:r>
              <a:rPr sz="2800" b="1" dirty="0" err="1">
                <a:solidFill>
                  <a:srgbClr val="152334"/>
                </a:solidFill>
                <a:latin typeface="Aptos"/>
              </a:rPr>
              <a:t>existe</a:t>
            </a:r>
            <a:r>
              <a:rPr sz="2800" b="1" dirty="0">
                <a:solidFill>
                  <a:srgbClr val="152334"/>
                </a:solidFill>
                <a:latin typeface="Aptos"/>
              </a:rPr>
              <a:t> hoy y </a:t>
            </a:r>
            <a:r>
              <a:rPr sz="2800" b="1" dirty="0" err="1">
                <a:solidFill>
                  <a:srgbClr val="152334"/>
                </a:solidFill>
                <a:latin typeface="Aptos"/>
              </a:rPr>
              <a:t>qué</a:t>
            </a:r>
            <a:r>
              <a:rPr sz="2800" b="1" dirty="0">
                <a:solidFill>
                  <a:srgbClr val="152334"/>
                </a:solidFill>
                <a:latin typeface="Aptos"/>
              </a:rPr>
              <a:t> </a:t>
            </a:r>
            <a:r>
              <a:rPr sz="2800" b="1" dirty="0" err="1">
                <a:solidFill>
                  <a:srgbClr val="152334"/>
                </a:solidFill>
                <a:latin typeface="Aptos"/>
              </a:rPr>
              <a:t>sigue</a:t>
            </a:r>
            <a:r>
              <a:rPr sz="2800" b="1" dirty="0">
                <a:solidFill>
                  <a:srgbClr val="152334"/>
                </a:solidFill>
                <a:latin typeface="Aptos"/>
              </a:rPr>
              <a:t> </a:t>
            </a:r>
            <a:r>
              <a:rPr sz="2800" b="1" dirty="0" err="1">
                <a:solidFill>
                  <a:srgbClr val="152334"/>
                </a:solidFill>
                <a:latin typeface="Aptos"/>
              </a:rPr>
              <a:t>faltando</a:t>
            </a:r>
            <a:r>
              <a:rPr sz="2800" b="1" dirty="0">
                <a:solidFill>
                  <a:srgbClr val="152334"/>
                </a:solidFill>
                <a:latin typeface="Aptos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667380"/>
                </a:solidFill>
                <a:latin typeface="Aptos"/>
              </a:rPr>
              <a:t>Contexto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7380"/>
                </a:solidFill>
                <a:latin typeface="Aptos"/>
              </a:rPr>
              <a:t>oficial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 + </a:t>
            </a:r>
            <a:r>
              <a:rPr sz="1300" b="0" dirty="0" err="1">
                <a:solidFill>
                  <a:srgbClr val="667380"/>
                </a:solidFill>
                <a:latin typeface="Aptos"/>
              </a:rPr>
              <a:t>soluciones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7380"/>
                </a:solidFill>
                <a:latin typeface="Aptos"/>
              </a:rPr>
              <a:t>actuales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 + </a:t>
            </a:r>
            <a:r>
              <a:rPr sz="1300" b="0" dirty="0" err="1">
                <a:solidFill>
                  <a:srgbClr val="667380"/>
                </a:solidFill>
                <a:latin typeface="Aptos"/>
              </a:rPr>
              <a:t>actores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 + </a:t>
            </a:r>
            <a:r>
              <a:rPr sz="1300" b="0" dirty="0" err="1">
                <a:solidFill>
                  <a:srgbClr val="667380"/>
                </a:solidFill>
                <a:latin typeface="Aptos"/>
              </a:rPr>
              <a:t>brecha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7380"/>
                </a:solidFill>
                <a:latin typeface="Aptos"/>
              </a:rPr>
              <a:t>identificada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429000" cy="1143000"/>
          </a:xfrm>
          <a:prstGeom prst="roundRect">
            <a:avLst/>
          </a:prstGeom>
          <a:solidFill>
            <a:srgbClr val="FFEEE4"/>
          </a:solidFill>
          <a:ln w="10160">
            <a:solidFill>
              <a:srgbClr val="FF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E8702D"/>
                </a:solidFill>
                <a:latin typeface="Aptos"/>
              </a:rPr>
              <a:t>87,6%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847088"/>
            <a:ext cx="1828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de los hogares usa gas como principal fuente para cocinar.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429000" cy="1143000"/>
          </a:xfrm>
          <a:prstGeom prst="roundRect">
            <a:avLst/>
          </a:prstGeom>
          <a:solidFill>
            <a:srgbClr val="E7F0FA"/>
          </a:solidFill>
          <a:ln w="10160"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901952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4074A5"/>
                </a:solidFill>
                <a:latin typeface="Aptos"/>
              </a:rPr>
              <a:t>7,4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847088"/>
            <a:ext cx="1828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personas censadas en la Región Metropolitana en 2024.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640" y="2928440"/>
            <a:ext cx="3429000" cy="1143000"/>
          </a:xfrm>
          <a:prstGeom prst="roundRect">
            <a:avLst/>
          </a:prstGeom>
          <a:solidFill>
            <a:srgbClr val="E4F4ED"/>
          </a:solidFill>
          <a:ln w="10160">
            <a:solidFill>
              <a:srgbClr val="E4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3346704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328B66"/>
                </a:solidFill>
                <a:latin typeface="Aptos"/>
              </a:rPr>
              <a:t>357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82923" y="3301058"/>
            <a:ext cx="1828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242E3A"/>
                </a:solidFill>
                <a:latin typeface="Aptos"/>
              </a:rPr>
              <a:t>reclamos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asociados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a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fugas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de gas a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nivel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nacional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en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2021.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34290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401568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02D"/>
                </a:solidFill>
                <a:latin typeface="Aptos"/>
              </a:rPr>
              <a:t>SOLUCIONES EXISTENTES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822191"/>
            <a:ext cx="29718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• Recomendaciones y fiscalización de la SEC.
• Revisiones e instalaciones por profesionales autorizados.
• Detectores de gas disponibles comercialmente.
• Alertas sonoras u otras señales según el dispositivo.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154680"/>
            <a:ext cx="34290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401568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02D"/>
                </a:solidFill>
                <a:latin typeface="Aptos"/>
              </a:rPr>
              <a:t>ACTORES INVOLUCRADOS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822191"/>
            <a:ext cx="29718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• Usuarios y familias.
• Instaladores autorizados y empresas de gas.
• SEC y autoridades públicas.
• Fabricantes y proveedores de dispositivos.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8640" y="4329683"/>
            <a:ext cx="34290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8397239" y="4809744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02D"/>
                </a:solidFill>
                <a:latin typeface="Aptos"/>
              </a:rPr>
              <a:t>BRECHA POR RESOLVER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7240" y="5344668"/>
            <a:ext cx="29718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242E3A"/>
                </a:solidFill>
                <a:latin typeface="Aptos"/>
              </a:rPr>
              <a:t>• Hacer la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alerta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visible y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fácil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de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identificar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.
•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Reducir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la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dependencia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exclusiva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del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olfato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.
•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Alertar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al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usuario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aunque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esté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lejos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de la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fuente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.
•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Integrar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detección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temprana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y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uso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simple.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644652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380"/>
                </a:solidFill>
                <a:latin typeface="Aptos"/>
              </a:rPr>
              <a:t>Fuentes: INE, Censo 2024; SEC; encuesta propia.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596128"/>
            <a:ext cx="6720840" cy="65836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74243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E8702D"/>
                </a:solidFill>
                <a:latin typeface="Aptos"/>
              </a:rPr>
              <a:t>OPORTUNIDAD DE DISEÑO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5705856"/>
            <a:ext cx="4434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42E3A"/>
                </a:solidFill>
                <a:latin typeface="Aptos"/>
              </a:rPr>
              <a:t>Convertir una condición difícil de percibir en una señal visible, simple y accionable.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68640" y="310895"/>
            <a:ext cx="3429000" cy="2359301"/>
          </a:xfrm>
          <a:prstGeom prst="roundRect">
            <a:avLst/>
          </a:prstGeom>
          <a:noFill/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8FBE5B43-C02D-4355-B9F4-71063718D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836" y="434267"/>
            <a:ext cx="2074606" cy="20746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n 41">
            <a:extLst>
              <a:ext uri="{FF2B5EF4-FFF2-40B4-BE49-F238E27FC236}">
                <a16:creationId xmlns:a16="http://schemas.microsoft.com/office/drawing/2014/main" id="{5A2AAD53-69ED-498D-47A1-FC13618997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566"/>
          <a:stretch>
            <a:fillRect/>
          </a:stretch>
        </p:blipFill>
        <p:spPr>
          <a:xfrm>
            <a:off x="8786048" y="177413"/>
            <a:ext cx="3285444" cy="20801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702D"/>
                </a:solidFill>
                <a:latin typeface="Aptos"/>
              </a:rPr>
              <a:t>03 · ENCUESTA PROPIA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2334"/>
                </a:solidFill>
                <a:latin typeface="Aptos"/>
              </a:rPr>
              <a:t>Validamos el problema con 114 respuestas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7380"/>
                </a:solidFill>
                <a:latin typeface="Aptos"/>
              </a:rPr>
              <a:t>Encuesta exploratoria realizada en agosto de 2026. No es una muestra probabilística.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516" y="2257610"/>
            <a:ext cx="288036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89264" y="2574935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52334"/>
                </a:solidFill>
                <a:latin typeface="Aptos"/>
              </a:rPr>
              <a:t>Perfil de la muestra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264" y="3123575"/>
            <a:ext cx="2423160" cy="1097280"/>
          </a:xfrm>
          <a:prstGeom prst="roundRect">
            <a:avLst/>
          </a:prstGeom>
          <a:solidFill>
            <a:srgbClr val="E7F0FA"/>
          </a:solidFill>
          <a:ln w="10160"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3855" y="3260735"/>
            <a:ext cx="20939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4074A5"/>
                </a:solidFill>
                <a:latin typeface="Aptos"/>
              </a:rPr>
              <a:t>114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6423" y="3818519"/>
            <a:ext cx="2148840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42E3A"/>
                </a:solidFill>
                <a:latin typeface="Aptos"/>
              </a:rPr>
              <a:t>respuestas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696" y="4495175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8702D"/>
                </a:solidFill>
                <a:latin typeface="Aptos"/>
              </a:rPr>
              <a:t>62,3%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696" y="4906655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42E3A"/>
                </a:solidFill>
                <a:latin typeface="Aptos"/>
              </a:rPr>
              <a:t>tiene entre 18 y 25 años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696" y="539585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328B66"/>
                </a:solidFill>
                <a:latin typeface="Aptos"/>
              </a:rPr>
              <a:t>107 personas (93.9%)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696" y="5953643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dirty="0" err="1">
                <a:solidFill>
                  <a:srgbClr val="242E3A"/>
                </a:solidFill>
                <a:latin typeface="Aptos"/>
              </a:rPr>
              <a:t>viven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en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un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hogar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donde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se </a:t>
            </a:r>
            <a:r>
              <a:rPr sz="1050" b="0" dirty="0" err="1">
                <a:solidFill>
                  <a:srgbClr val="242E3A"/>
                </a:solidFill>
                <a:latin typeface="Aptos"/>
              </a:rPr>
              <a:t>utiliza</a:t>
            </a:r>
            <a:r>
              <a:rPr sz="1050" b="0" dirty="0">
                <a:solidFill>
                  <a:srgbClr val="242E3A"/>
                </a:solidFill>
                <a:latin typeface="Aptos"/>
              </a:rPr>
              <a:t> gas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659" y="2559179"/>
            <a:ext cx="6858000" cy="399592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520978" y="2694535"/>
            <a:ext cx="470726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 err="1">
                <a:solidFill>
                  <a:srgbClr val="152334"/>
                </a:solidFill>
                <a:latin typeface="Aptos"/>
              </a:rPr>
              <a:t>Artefactos</a:t>
            </a:r>
            <a:r>
              <a:rPr sz="1600" b="1" dirty="0">
                <a:solidFill>
                  <a:srgbClr val="152334"/>
                </a:solidFill>
                <a:latin typeface="Aptos"/>
              </a:rPr>
              <a:t> a gas </a:t>
            </a:r>
            <a:r>
              <a:rPr sz="1600" b="1" dirty="0" err="1">
                <a:solidFill>
                  <a:srgbClr val="152334"/>
                </a:solidFill>
                <a:latin typeface="Aptos"/>
              </a:rPr>
              <a:t>presentes</a:t>
            </a:r>
            <a:r>
              <a:rPr sz="1600" b="1" dirty="0">
                <a:solidFill>
                  <a:srgbClr val="152334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52334"/>
                </a:solidFill>
                <a:latin typeface="Aptos"/>
              </a:rPr>
              <a:t>en</a:t>
            </a:r>
            <a:r>
              <a:rPr sz="1600" b="1" dirty="0">
                <a:solidFill>
                  <a:srgbClr val="152334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52334"/>
                </a:solidFill>
                <a:latin typeface="Aptos"/>
              </a:rPr>
              <a:t>los</a:t>
            </a:r>
            <a:r>
              <a:rPr sz="1600" b="1" dirty="0">
                <a:solidFill>
                  <a:srgbClr val="152334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52334"/>
                </a:solidFill>
                <a:latin typeface="Aptos"/>
              </a:rPr>
              <a:t>hogares</a:t>
            </a:r>
            <a:endParaRPr sz="1600" b="1" dirty="0">
              <a:solidFill>
                <a:srgbClr val="15233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20979" y="3438792"/>
            <a:ext cx="2028182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Cocina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73272" y="3386894"/>
            <a:ext cx="3101926" cy="159837"/>
          </a:xfrm>
          <a:prstGeom prst="round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873272" y="3386894"/>
            <a:ext cx="2551117" cy="159837"/>
          </a:xfrm>
          <a:prstGeom prst="roundRect">
            <a:avLst/>
          </a:prstGeom>
          <a:solidFill>
            <a:srgbClr val="407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41260" y="3230353"/>
            <a:ext cx="446379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52334"/>
                </a:solidFill>
                <a:latin typeface="Aptos"/>
              </a:rPr>
              <a:t>82.2%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979" y="3960001"/>
            <a:ext cx="2028182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Calefón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73272" y="3908103"/>
            <a:ext cx="3101926" cy="159837"/>
          </a:xfrm>
          <a:prstGeom prst="round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873273" y="3908103"/>
            <a:ext cx="1739398" cy="159837"/>
          </a:xfrm>
          <a:prstGeom prst="roundRect">
            <a:avLst/>
          </a:prstGeom>
          <a:solidFill>
            <a:srgbClr val="407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41260" y="3751561"/>
            <a:ext cx="446379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52334"/>
                </a:solidFill>
                <a:latin typeface="Aptos"/>
              </a:rPr>
              <a:t>56.1%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979" y="4481208"/>
            <a:ext cx="2028182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Estufa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73272" y="4429310"/>
            <a:ext cx="3101926" cy="159837"/>
          </a:xfrm>
          <a:prstGeom prst="round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873273" y="4429310"/>
            <a:ext cx="1333538" cy="159837"/>
          </a:xfrm>
          <a:prstGeom prst="roundRect">
            <a:avLst/>
          </a:prstGeom>
          <a:solidFill>
            <a:srgbClr val="407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41260" y="4272768"/>
            <a:ext cx="446379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52334"/>
                </a:solidFill>
                <a:latin typeface="Aptos"/>
              </a:rPr>
              <a:t>43.0%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979" y="5002417"/>
            <a:ext cx="2028182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Horno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73272" y="4950519"/>
            <a:ext cx="3101926" cy="159837"/>
          </a:xfrm>
          <a:prstGeom prst="round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873272" y="4950519"/>
            <a:ext cx="1101618" cy="159837"/>
          </a:xfrm>
          <a:prstGeom prst="roundRect">
            <a:avLst/>
          </a:prstGeom>
          <a:solidFill>
            <a:srgbClr val="407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41260" y="4793977"/>
            <a:ext cx="446379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52334"/>
                </a:solidFill>
                <a:latin typeface="Aptos"/>
              </a:rPr>
              <a:t>35.5%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979" y="5523625"/>
            <a:ext cx="2028182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Parrilla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73272" y="5471727"/>
            <a:ext cx="3101926" cy="159837"/>
          </a:xfrm>
          <a:prstGeom prst="round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873272" y="5471727"/>
            <a:ext cx="869698" cy="159837"/>
          </a:xfrm>
          <a:prstGeom prst="roundRect">
            <a:avLst/>
          </a:prstGeom>
          <a:solidFill>
            <a:srgbClr val="407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41260" y="5315185"/>
            <a:ext cx="446379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52334"/>
                </a:solidFill>
                <a:latin typeface="Aptos"/>
              </a:rPr>
              <a:t>28.0%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978" y="6032071"/>
            <a:ext cx="5843504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42E3A"/>
                </a:solidFill>
                <a:latin typeface="Aptos"/>
              </a:rPr>
              <a:t>La cocina aparece en 88 de los 107 hogares que usan gas.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702D"/>
                </a:solidFill>
                <a:latin typeface="Aptos"/>
              </a:rPr>
              <a:t>04 · EVIDENCIA DEL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2334"/>
                </a:solidFill>
                <a:latin typeface="Aptos"/>
              </a:rPr>
              <a:t>La detección no es igual de segura para 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7899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419" sz="1300" b="0" dirty="0">
                <a:solidFill>
                  <a:srgbClr val="667380"/>
                </a:solidFill>
                <a:latin typeface="Aptos"/>
              </a:rPr>
              <a:t>Solo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 1 de cada 5 </a:t>
            </a:r>
            <a:r>
              <a:rPr sz="1300" b="0" dirty="0" err="1">
                <a:solidFill>
                  <a:srgbClr val="667380"/>
                </a:solidFill>
                <a:latin typeface="Aptos"/>
              </a:rPr>
              <a:t>encuestados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 se </a:t>
            </a:r>
            <a:r>
              <a:rPr sz="1300" b="0" dirty="0" err="1">
                <a:solidFill>
                  <a:srgbClr val="667380"/>
                </a:solidFill>
                <a:latin typeface="Aptos"/>
              </a:rPr>
              <a:t>siente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7380"/>
                </a:solidFill>
                <a:latin typeface="Aptos"/>
              </a:rPr>
              <a:t>muy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7380"/>
                </a:solidFill>
                <a:latin typeface="Aptos"/>
              </a:rPr>
              <a:t>seguro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 de </a:t>
            </a:r>
            <a:r>
              <a:rPr sz="1300" b="0" dirty="0" err="1">
                <a:solidFill>
                  <a:srgbClr val="667380"/>
                </a:solidFill>
                <a:latin typeface="Aptos"/>
              </a:rPr>
              <a:t>detectarla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 a </a:t>
            </a:r>
            <a:r>
              <a:rPr sz="1300" b="0" dirty="0" err="1">
                <a:solidFill>
                  <a:srgbClr val="667380"/>
                </a:solidFill>
                <a:latin typeface="Aptos"/>
              </a:rPr>
              <a:t>tiempo</a:t>
            </a:r>
            <a:r>
              <a:rPr sz="1300" b="0" dirty="0">
                <a:solidFill>
                  <a:srgbClr val="667380"/>
                </a:solidFill>
                <a:latin typeface="Aptos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4924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334"/>
                </a:solidFill>
                <a:latin typeface="Aptos"/>
              </a:rPr>
              <a:t>Si hubiera una fuga, ¿qué tan seguro/a estás de detectarla a tiempo?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88920"/>
            <a:ext cx="155448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Muy seguro/a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6312" y="2852927"/>
            <a:ext cx="2377440" cy="173736"/>
          </a:xfrm>
          <a:prstGeom prst="round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96312" y="2852927"/>
            <a:ext cx="799431" cy="173736"/>
          </a:xfrm>
          <a:prstGeom prst="roundRect">
            <a:avLst/>
          </a:prstGeom>
          <a:solidFill>
            <a:srgbClr val="E87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46904" y="2779776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52334"/>
                </a:solidFill>
                <a:latin typeface="Aptos"/>
              </a:rPr>
              <a:t>20.2%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406139"/>
            <a:ext cx="155448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Algo seguro/a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96312" y="3470147"/>
            <a:ext cx="2377440" cy="173736"/>
          </a:xfrm>
          <a:prstGeom prst="round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496312" y="3470147"/>
            <a:ext cx="2015957" cy="173736"/>
          </a:xfrm>
          <a:prstGeom prst="roundRect">
            <a:avLst/>
          </a:prstGeom>
          <a:solidFill>
            <a:srgbClr val="E87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46904" y="3396996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52334"/>
                </a:solidFill>
                <a:latin typeface="Aptos"/>
              </a:rPr>
              <a:t>50.9%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023359"/>
            <a:ext cx="155448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Poco seguro/a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96312" y="4087368"/>
            <a:ext cx="2377440" cy="173736"/>
          </a:xfrm>
          <a:prstGeom prst="round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496312" y="4087368"/>
            <a:ext cx="1112252" cy="173736"/>
          </a:xfrm>
          <a:prstGeom prst="roundRect">
            <a:avLst/>
          </a:prstGeom>
          <a:solidFill>
            <a:srgbClr val="E87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46904" y="4014215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52334"/>
                </a:solidFill>
                <a:latin typeface="Aptos"/>
              </a:rPr>
              <a:t>28.1%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640580"/>
            <a:ext cx="155448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Nada seguro/a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96312" y="4704588"/>
            <a:ext cx="2377440" cy="173736"/>
          </a:xfrm>
          <a:prstGeom prst="round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496312" y="4704588"/>
            <a:ext cx="34757" cy="173736"/>
          </a:xfrm>
          <a:prstGeom prst="roundRect">
            <a:avLst/>
          </a:prstGeom>
          <a:solidFill>
            <a:srgbClr val="E87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46904" y="4631436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52334"/>
                </a:solidFill>
                <a:latin typeface="Aptos"/>
              </a:rPr>
              <a:t>0.9%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468112"/>
            <a:ext cx="4526280" cy="347472"/>
          </a:xfrm>
          <a:prstGeom prst="roundRect">
            <a:avLst/>
          </a:prstGeom>
          <a:solidFill>
            <a:srgbClr val="FF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5486400"/>
            <a:ext cx="43799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E8702D"/>
                </a:solidFill>
                <a:latin typeface="Aptos"/>
              </a:rPr>
              <a:t>23 personas · 20.2% muy seguras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737360"/>
            <a:ext cx="5303520" cy="4389120"/>
          </a:xfrm>
          <a:prstGeom prst="roundRect">
            <a:avLst/>
          </a:prstGeom>
          <a:solidFill>
            <a:srgbClr val="152334"/>
          </a:solidFill>
          <a:ln w="10160">
            <a:solidFill>
              <a:srgbClr val="152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63640" y="1810512"/>
            <a:ext cx="4983480" cy="4160520"/>
          </a:xfrm>
          <a:prstGeom prst="roundRect">
            <a:avLst/>
          </a:prstGeom>
          <a:solidFill>
            <a:srgbClr val="152334"/>
          </a:solidFill>
          <a:ln w="12700">
            <a:solidFill>
              <a:srgbClr val="152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2084831"/>
            <a:ext cx="4389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¿Qué tan fácil es detectar el olor?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267004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E8702D"/>
                </a:solidFill>
                <a:latin typeface="Aptos"/>
              </a:rPr>
              <a:t>17 personas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7092" y="2734056"/>
            <a:ext cx="1234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900" b="1" dirty="0">
                <a:solidFill>
                  <a:srgbClr val="E8702D"/>
                </a:solidFill>
                <a:latin typeface="Aptos"/>
              </a:rPr>
              <a:t>14,9%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3246120"/>
            <a:ext cx="4160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Aptos"/>
              </a:rPr>
              <a:t>dicen que les resulta difícil detectarlo
o que no pueden percibirlo / tienen poco olfato.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4315968"/>
            <a:ext cx="4069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1DCE8"/>
                </a:solidFill>
                <a:latin typeface="Aptos"/>
              </a:rPr>
              <a:t>Además, 9 personas nunca se habían preguntado qué tan fácil les resulta detectar el olor.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5175504"/>
            <a:ext cx="4160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Aptos"/>
              </a:rPr>
              <a:t>→ Esto refuerza la necesidad de una señal adicional a la percepción humana.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702D"/>
                </a:solidFill>
                <a:latin typeface="Aptos"/>
              </a:rPr>
              <a:t>05 · VALIDACIÓN DE 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2334"/>
                </a:solidFill>
                <a:latin typeface="Aptos"/>
              </a:rPr>
              <a:t>La alerta visual responde exactamente a los escenarios detectados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880360" cy="4434840"/>
          </a:xfrm>
          <a:prstGeom prst="roundRect">
            <a:avLst/>
          </a:prstGeom>
          <a:solidFill>
            <a:srgbClr val="FFEEE4"/>
          </a:solidFill>
          <a:ln w="10160">
            <a:solidFill>
              <a:srgbClr val="FF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E8702D"/>
                </a:solidFill>
                <a:latin typeface="Aptos"/>
              </a:rPr>
              <a:t>97,4%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2423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52334"/>
                </a:solidFill>
                <a:latin typeface="Aptos"/>
              </a:rPr>
              <a:t>considera útil o muy útil
una alerta visual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2423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42E3A"/>
                </a:solidFill>
                <a:latin typeface="Aptos"/>
              </a:rPr>
              <a:t>86 personas la calificaron
como “muy útil”.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242E3A"/>
                </a:solidFill>
                <a:latin typeface="Aptos"/>
              </a:rPr>
              <a:t>La encuesta no solo detecta una necesidad: también valida la propuesta de valor.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737360"/>
            <a:ext cx="347472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1920" y="19659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2334"/>
                </a:solidFill>
                <a:latin typeface="Aptos"/>
              </a:rPr>
              <a:t>¿Cuándo sería más útil?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532888"/>
            <a:ext cx="948232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Siempre sería útil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08042" y="2596896"/>
            <a:ext cx="1450238" cy="173736"/>
          </a:xfrm>
          <a:prstGeom prst="round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908042" y="2596896"/>
            <a:ext cx="1326659" cy="173736"/>
          </a:xfrm>
          <a:prstGeom prst="roundRect">
            <a:avLst/>
          </a:prstGeom>
          <a:solidFill>
            <a:srgbClr val="32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1432" y="2523744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52334"/>
                </a:solidFill>
                <a:latin typeface="Aptos"/>
              </a:rPr>
              <a:t>64.0%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099816"/>
            <a:ext cx="948232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Vivo solo/a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08042" y="3163824"/>
            <a:ext cx="1450238" cy="173736"/>
          </a:xfrm>
          <a:prstGeom prst="round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08042" y="3163824"/>
            <a:ext cx="945017" cy="173736"/>
          </a:xfrm>
          <a:prstGeom prst="roundRect">
            <a:avLst/>
          </a:prstGeom>
          <a:solidFill>
            <a:srgbClr val="32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31432" y="3090672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52334"/>
                </a:solidFill>
                <a:latin typeface="Aptos"/>
              </a:rPr>
              <a:t>45.6%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666744"/>
            <a:ext cx="948232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Estoy durmiendo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08042" y="3730752"/>
            <a:ext cx="1450238" cy="173736"/>
          </a:xfrm>
          <a:prstGeom prst="round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908042" y="3730752"/>
            <a:ext cx="908670" cy="173736"/>
          </a:xfrm>
          <a:prstGeom prst="roundRect">
            <a:avLst/>
          </a:prstGeom>
          <a:solidFill>
            <a:srgbClr val="32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31432" y="3657600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52334"/>
                </a:solidFill>
                <a:latin typeface="Aptos"/>
              </a:rPr>
              <a:t>43.9%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233672"/>
            <a:ext cx="948232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Lejos de la cocina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08042" y="4297680"/>
            <a:ext cx="1450238" cy="173736"/>
          </a:xfrm>
          <a:prstGeom prst="round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908042" y="4297680"/>
            <a:ext cx="835977" cy="173736"/>
          </a:xfrm>
          <a:prstGeom prst="roundRect">
            <a:avLst/>
          </a:prstGeom>
          <a:solidFill>
            <a:srgbClr val="32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31432" y="422452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52334"/>
                </a:solidFill>
                <a:latin typeface="Aptos"/>
              </a:rPr>
              <a:t>40.4%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800600"/>
            <a:ext cx="948232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No percibo bien olores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08042" y="4864608"/>
            <a:ext cx="1450238" cy="173736"/>
          </a:xfrm>
          <a:prstGeom prst="round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908042" y="4864608"/>
            <a:ext cx="835977" cy="173736"/>
          </a:xfrm>
          <a:prstGeom prst="roundRect">
            <a:avLst/>
          </a:prstGeom>
          <a:solidFill>
            <a:srgbClr val="32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31432" y="4791456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52334"/>
                </a:solidFill>
                <a:latin typeface="Aptos"/>
              </a:rPr>
              <a:t>40.4%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1737360"/>
            <a:ext cx="4160520" cy="4434840"/>
          </a:xfrm>
          <a:prstGeom prst="roundRect">
            <a:avLst/>
          </a:prstGeom>
          <a:solidFill>
            <a:srgbClr val="152334"/>
          </a:solidFill>
          <a:ln w="10160">
            <a:solidFill>
              <a:srgbClr val="152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315200" y="1901952"/>
            <a:ext cx="4251960" cy="3977639"/>
          </a:xfrm>
          <a:prstGeom prst="roundRect">
            <a:avLst/>
          </a:prstGeom>
          <a:solidFill>
            <a:srgbClr val="2A2239"/>
          </a:solidFill>
          <a:ln w="12700">
            <a:solidFill>
              <a:srgbClr val="2A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07808" y="214884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8702D"/>
                </a:solidFill>
                <a:latin typeface="Aptos"/>
              </a:rPr>
              <a:t>VOCES DE LA ENCUESTA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808" y="2578608"/>
            <a:ext cx="3639312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“Una estufa tenía fuga y me costó darme cuenta.”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8" y="3337560"/>
            <a:ext cx="3639312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“Mi papá siempre deja el gas prendido... me preocupa que un día yo no esté en la casa y pase algo.”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7808" y="4160520"/>
            <a:ext cx="3639312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“Conozco a alguien que no tiene sentido del olfato... por suerte revisó la perilla.”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7808" y="4956048"/>
            <a:ext cx="3639312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“Una vez me intoxiqué con una fuga mientras dormía durante toda la noche. A la mañana siguiente me di cuenta y me sentía muy mal.”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702D"/>
                </a:solidFill>
                <a:latin typeface="Aptos"/>
              </a:rPr>
              <a:t>06 · CONCEPTUALIZACIÓN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2334"/>
                </a:solidFill>
                <a:latin typeface="Aptos"/>
              </a:rPr>
              <a:t>Una alerta visible que no dependa de estar mirando la cocina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46888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08760" y="2011680"/>
            <a:ext cx="731520" cy="731520"/>
          </a:xfrm>
          <a:prstGeom prst="ellipse">
            <a:avLst/>
          </a:prstGeom>
          <a:solidFill>
            <a:srgbClr val="E87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2112264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907792"/>
            <a:ext cx="21396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52334"/>
                </a:solidFill>
                <a:latin typeface="Aptos"/>
              </a:rPr>
              <a:t>DETECTAR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7560"/>
            <a:ext cx="2103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42E3A"/>
                </a:solidFill>
                <a:latin typeface="Aptos"/>
              </a:rPr>
              <a:t>Identificar una concentración inusual de gas en la zona de riesgo.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1783080"/>
            <a:ext cx="246888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61688" y="2011680"/>
            <a:ext cx="731520" cy="731520"/>
          </a:xfrm>
          <a:prstGeom prst="ellipse">
            <a:avLst/>
          </a:prstGeom>
          <a:solidFill>
            <a:srgbClr val="E87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61688" y="2112264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07792"/>
            <a:ext cx="21396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52334"/>
                </a:solidFill>
                <a:latin typeface="Aptos"/>
              </a:rPr>
              <a:t>INTERPRETAR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3337560"/>
            <a:ext cx="2103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42E3A"/>
                </a:solidFill>
                <a:latin typeface="Aptos"/>
              </a:rPr>
              <a:t>Distinguir una condición que amerite generar una alerta.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1783080"/>
            <a:ext cx="246888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214616" y="2011680"/>
            <a:ext cx="731520" cy="731520"/>
          </a:xfrm>
          <a:prstGeom prst="ellipse">
            <a:avLst/>
          </a:prstGeom>
          <a:solidFill>
            <a:srgbClr val="E87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14616" y="2112264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907792"/>
            <a:ext cx="21396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52334"/>
                </a:solidFill>
                <a:latin typeface="Aptos"/>
              </a:rPr>
              <a:t>ALERTAR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3337560"/>
            <a:ext cx="2103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42E3A"/>
                </a:solidFill>
                <a:latin typeface="Aptos"/>
              </a:rPr>
              <a:t>Encender una luz visible dentro del hogar.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98863" y="1783080"/>
            <a:ext cx="246888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067543" y="2011680"/>
            <a:ext cx="731520" cy="731520"/>
          </a:xfrm>
          <a:prstGeom prst="ellipse">
            <a:avLst/>
          </a:prstGeom>
          <a:solidFill>
            <a:srgbClr val="E87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67543" y="2112264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5" y="2907792"/>
            <a:ext cx="21396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52334"/>
                </a:solidFill>
                <a:latin typeface="Aptos"/>
              </a:rPr>
              <a:t>ACTUAR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3" y="3337560"/>
            <a:ext cx="2103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42E3A"/>
                </a:solidFill>
                <a:latin typeface="Aptos"/>
              </a:rPr>
              <a:t>Permitir que la persona reaccione antes, siguiendo las medidas de seguridad correspondientes.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389120"/>
            <a:ext cx="5349240" cy="1508760"/>
          </a:xfrm>
          <a:prstGeom prst="roundRect">
            <a:avLst/>
          </a:prstGeom>
          <a:solidFill>
            <a:srgbClr val="152334"/>
          </a:solidFill>
          <a:ln w="10160">
            <a:solidFill>
              <a:srgbClr val="152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46451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¿Por qué una luz?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010912"/>
            <a:ext cx="4526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Porque hace visible la alerta incluso si la persona está lejos de la cocina, dormida o tiene dificultades para percibir olores.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389120"/>
            <a:ext cx="5303520" cy="1508760"/>
          </a:xfrm>
          <a:prstGeom prst="roundRect">
            <a:avLst/>
          </a:prstGeom>
          <a:solidFill>
            <a:srgbClr val="E4F4ED"/>
          </a:solidFill>
          <a:ln w="10160">
            <a:solidFill>
              <a:srgbClr val="E4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464515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28B66"/>
                </a:solidFill>
                <a:latin typeface="Aptos"/>
              </a:rPr>
              <a:t>Viabilidad conceptual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5010912"/>
            <a:ext cx="4526280" cy="455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dirty="0">
                <a:solidFill>
                  <a:srgbClr val="242E3A"/>
                </a:solidFill>
                <a:latin typeface="Aptos"/>
              </a:rPr>
              <a:t>Es </a:t>
            </a:r>
            <a:r>
              <a:rPr sz="1180" b="0" dirty="0" err="1">
                <a:solidFill>
                  <a:srgbClr val="242E3A"/>
                </a:solidFill>
                <a:latin typeface="Aptos"/>
              </a:rPr>
              <a:t>una</a:t>
            </a:r>
            <a:r>
              <a:rPr sz="1180" b="0" dirty="0">
                <a:solidFill>
                  <a:srgbClr val="242E3A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42E3A"/>
                </a:solidFill>
                <a:latin typeface="Aptos"/>
              </a:rPr>
              <a:t>intervención</a:t>
            </a:r>
            <a:r>
              <a:rPr sz="1180" b="0" dirty="0">
                <a:solidFill>
                  <a:srgbClr val="242E3A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42E3A"/>
                </a:solidFill>
                <a:latin typeface="Aptos"/>
              </a:rPr>
              <a:t>doméstica</a:t>
            </a:r>
            <a:r>
              <a:rPr sz="1180" b="0" dirty="0">
                <a:solidFill>
                  <a:srgbClr val="242E3A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42E3A"/>
                </a:solidFill>
                <a:latin typeface="Aptos"/>
              </a:rPr>
              <a:t>acotada</a:t>
            </a:r>
            <a:r>
              <a:rPr sz="1180" b="0" dirty="0">
                <a:solidFill>
                  <a:srgbClr val="242E3A"/>
                </a:solidFill>
                <a:latin typeface="Aptos"/>
              </a:rPr>
              <a:t>, </a:t>
            </a:r>
            <a:r>
              <a:rPr sz="1180" b="0" dirty="0" err="1">
                <a:solidFill>
                  <a:srgbClr val="242E3A"/>
                </a:solidFill>
                <a:latin typeface="Aptos"/>
              </a:rPr>
              <a:t>escalable</a:t>
            </a:r>
            <a:r>
              <a:rPr sz="1180" b="0" dirty="0">
                <a:solidFill>
                  <a:srgbClr val="242E3A"/>
                </a:solidFill>
                <a:latin typeface="Aptos"/>
              </a:rPr>
              <a:t> y </a:t>
            </a:r>
            <a:r>
              <a:rPr sz="1180" b="0" dirty="0" err="1">
                <a:solidFill>
                  <a:srgbClr val="242E3A"/>
                </a:solidFill>
                <a:latin typeface="Aptos"/>
              </a:rPr>
              <a:t>conectada</a:t>
            </a:r>
            <a:r>
              <a:rPr sz="1180" b="0" dirty="0">
                <a:solidFill>
                  <a:srgbClr val="242E3A"/>
                </a:solidFill>
                <a:latin typeface="Aptos"/>
              </a:rPr>
              <a:t> con </a:t>
            </a:r>
            <a:r>
              <a:rPr sz="1180" b="0" dirty="0" err="1">
                <a:solidFill>
                  <a:srgbClr val="242E3A"/>
                </a:solidFill>
                <a:latin typeface="Aptos"/>
              </a:rPr>
              <a:t>una</a:t>
            </a:r>
            <a:r>
              <a:rPr sz="1180" b="0" dirty="0">
                <a:solidFill>
                  <a:srgbClr val="242E3A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42E3A"/>
                </a:solidFill>
                <a:latin typeface="Aptos"/>
              </a:rPr>
              <a:t>necesidad</a:t>
            </a:r>
            <a:r>
              <a:rPr sz="1180" b="0" dirty="0">
                <a:solidFill>
                  <a:srgbClr val="242E3A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42E3A"/>
                </a:solidFill>
                <a:latin typeface="Aptos"/>
              </a:rPr>
              <a:t>validada</a:t>
            </a:r>
            <a:r>
              <a:rPr sz="1180" b="0" dirty="0">
                <a:solidFill>
                  <a:srgbClr val="242E3A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42E3A"/>
                </a:solidFill>
                <a:latin typeface="Aptos"/>
              </a:rPr>
              <a:t>por</a:t>
            </a:r>
            <a:r>
              <a:rPr sz="1180" b="0" dirty="0">
                <a:solidFill>
                  <a:srgbClr val="242E3A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42E3A"/>
                </a:solidFill>
                <a:latin typeface="Aptos"/>
              </a:rPr>
              <a:t>usuarios</a:t>
            </a:r>
            <a:r>
              <a:rPr sz="1180" b="0" dirty="0">
                <a:solidFill>
                  <a:srgbClr val="242E3A"/>
                </a:solidFill>
                <a:latin typeface="Aptos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596128"/>
            <a:ext cx="5349240" cy="658368"/>
          </a:xfrm>
          <a:prstGeom prst="roundRect">
            <a:avLst/>
          </a:prstGeom>
          <a:solidFill>
            <a:srgbClr val="FFEEE4"/>
          </a:solidFill>
          <a:ln w="10160">
            <a:solidFill>
              <a:srgbClr val="FF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733288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E8702D"/>
                </a:solidFill>
                <a:latin typeface="Aptos"/>
              </a:rPr>
              <a:t>IMPACTO ESPERADO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696712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E3A"/>
                </a:solidFill>
                <a:latin typeface="Aptos"/>
              </a:rPr>
              <a:t>Reducir el tiempo de detección, favorecer una reacción temprana y disminuir la dependencia del olfato.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702D"/>
                </a:solidFill>
                <a:latin typeface="Aptos"/>
              </a:rPr>
              <a:t>07 ·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2334"/>
                </a:solidFill>
                <a:latin typeface="Aptos"/>
              </a:rPr>
              <a:t>De una alerta que depende del olfato a una alerta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7380"/>
                </a:solidFill>
                <a:latin typeface="Aptos"/>
              </a:rPr>
              <a:t>Objetivo: reducir el tiempo de detección y facilitar una reacción temprana ante una condición anormal.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38328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90195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702D"/>
                </a:solidFill>
                <a:latin typeface="Aptos"/>
              </a:rPr>
              <a:t>BENEFICIARIOS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04288"/>
            <a:ext cx="2971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E3A"/>
                </a:solidFill>
                <a:latin typeface="Aptos"/>
              </a:rPr>
              <a:t>Personas que viven solas
Adultos mayores
Personas con menor percepción de olores
Hogares con artefactos a gas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38328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2" y="190195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702D"/>
                </a:solidFill>
                <a:latin typeface="Aptos"/>
              </a:rPr>
              <a:t>STAKEHOLDERS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304288"/>
            <a:ext cx="2971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E3A"/>
                </a:solidFill>
                <a:latin typeface="Aptos"/>
              </a:rPr>
              <a:t>Usuarios y familias
Instaladores autorizados
SEC / autoridades
Proveedores de dispositivos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91640"/>
            <a:ext cx="338328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94192" y="190195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702D"/>
                </a:solidFill>
                <a:latin typeface="Aptos"/>
              </a:rPr>
              <a:t>ESCALABILIDAD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304288"/>
            <a:ext cx="2971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E3A"/>
                </a:solidFill>
                <a:latin typeface="Aptos"/>
              </a:rPr>
              <a:t>Cocina → otras zonas con gas
Hogares → edificios
Prototipo → producto doméstico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10972800" cy="224028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34840" y="3611880"/>
            <a:ext cx="7178040" cy="224028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13232" y="3657600"/>
            <a:ext cx="5715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3886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02D"/>
                </a:solidFill>
                <a:latin typeface="Aptos"/>
              </a:rPr>
              <a:t>FUENTES PRINCIPALES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279392"/>
            <a:ext cx="52578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0" b="0">
                <a:solidFill>
                  <a:srgbClr val="242E3A"/>
                </a:solidFill>
                <a:latin typeface="Aptos"/>
              </a:rPr>
              <a:t>• INE · Censo 2024: 87,6% de hogares usa gas como principal fuente para cocinar.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544568"/>
            <a:ext cx="52578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0" b="0">
                <a:solidFill>
                  <a:srgbClr val="242E3A"/>
                </a:solidFill>
                <a:latin typeface="Aptos"/>
              </a:rPr>
              <a:t>• SEC · Anuario 2024: antecedentes de emergencias de la industria del gas.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4809744"/>
            <a:ext cx="52578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0" b="0">
                <a:solidFill>
                  <a:srgbClr val="242E3A"/>
                </a:solidFill>
                <a:latin typeface="Aptos"/>
              </a:rPr>
              <a:t>• SEC · Reclamos 2021: 357 reclamos asociados a fugas de gas.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5074920"/>
            <a:ext cx="52578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0" b="0">
                <a:solidFill>
                  <a:srgbClr val="242E3A"/>
                </a:solidFill>
                <a:latin typeface="Aptos"/>
              </a:rPr>
              <a:t>• SEC · Recomendaciones de uso seguro del gas en hogares.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40096"/>
            <a:ext cx="52578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0" b="0">
                <a:solidFill>
                  <a:srgbClr val="242E3A"/>
                </a:solidFill>
                <a:latin typeface="Aptos"/>
              </a:rPr>
              <a:t>• ONU Chile · ODS 3 Salud y bienestar; ODS 11 Ciudades y comunidades sostenibles.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605272"/>
            <a:ext cx="52578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0" b="0">
                <a:solidFill>
                  <a:srgbClr val="242E3A"/>
                </a:solidFill>
                <a:latin typeface="Aptos"/>
              </a:rPr>
              <a:t>• Encuesta propia · n=114, agosto 2026.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9400" y="3657600"/>
            <a:ext cx="4800600" cy="233172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76288" y="3886200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52334"/>
                </a:solidFill>
                <a:latin typeface="Aptos"/>
              </a:rPr>
              <a:t>CONSIDERACIONES IMPORTANTES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288" y="4279392"/>
            <a:ext cx="4160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42E3A"/>
                </a:solidFill>
                <a:latin typeface="Aptos"/>
              </a:rPr>
              <a:t>• Seguridad: minimizar falsas alarmas y no reemplazar medidas oficiales.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4590288"/>
            <a:ext cx="4160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42E3A"/>
                </a:solidFill>
                <a:latin typeface="Aptos"/>
              </a:rPr>
              <a:t>• Ubicación: señal visible desde zonas relevantes del hogar.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4901183"/>
            <a:ext cx="4160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42E3A"/>
                </a:solidFill>
                <a:latin typeface="Aptos"/>
              </a:rPr>
              <a:t>• Usabilidad: simple de entender y mantener.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6288" y="5212079"/>
            <a:ext cx="4160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42E3A"/>
                </a:solidFill>
                <a:latin typeface="Aptos"/>
              </a:rPr>
              <a:t>• Confiabilidad: respuesta consistente ante condiciones anormales.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5522976"/>
            <a:ext cx="4160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42E3A"/>
                </a:solidFill>
                <a:latin typeface="Aptos"/>
              </a:rPr>
              <a:t>• Normativa: considerar instalación y regulación aplicable.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1232</Words>
  <Application>Microsoft Office PowerPoint</Application>
  <PresentationFormat>Panorámica</PresentationFormat>
  <Paragraphs>153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Anto rojas</dc:creator>
  <cp:keywords/>
  <dc:description>generated using python-pptx</dc:description>
  <cp:lastModifiedBy>Matías Joaquín Ortega Muñoz</cp:lastModifiedBy>
  <cp:revision>5</cp:revision>
  <dcterms:created xsi:type="dcterms:W3CDTF">2013-01-27T09:14:16Z</dcterms:created>
  <dcterms:modified xsi:type="dcterms:W3CDTF">2026-08-24T01:54:05Z</dcterms:modified>
  <cp:category/>
</cp:coreProperties>
</file>